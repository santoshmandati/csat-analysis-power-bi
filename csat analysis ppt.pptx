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6" r:id="rId2"/>
    <p:sldId id="259" r:id="rId3"/>
    <p:sldId id="257" r:id="rId4"/>
    <p:sldId id="267" r:id="rId5"/>
    <p:sldId id="258"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39979-245B-4F27-AF21-539193E899CF}" type="datetimeFigureOut">
              <a:rPr lang="en-IN" smtClean="0"/>
              <a:t>14-06-2026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B07452-6F4A-40BE-89E4-8A016FF5177C}" type="slidenum">
              <a:rPr lang="en-IN" smtClean="0"/>
              <a:t>‹#›</a:t>
            </a:fld>
            <a:endParaRPr lang="en-IN"/>
          </a:p>
        </p:txBody>
      </p:sp>
    </p:spTree>
    <p:extLst>
      <p:ext uri="{BB962C8B-B14F-4D97-AF65-F5344CB8AC3E}">
        <p14:creationId xmlns:p14="http://schemas.microsoft.com/office/powerpoint/2010/main" val="2789611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CSAT analytics project. Dataset covers 32,941 call center records across 4 US centers. Average CSAT of 2.07/10 is the headline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01FA0B-6DCE-47EE-B2A3-D15BC427D5C6}"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8D485E-9C63-4D4E-9A22-72B9DF45BCB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65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1FA0B-6DCE-47EE-B2A3-D15BC427D5C6}"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145021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1FA0B-6DCE-47EE-B2A3-D15BC427D5C6}"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8D485E-9C63-4D4E-9A22-72B9DF45BCB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4836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1FA0B-6DCE-47EE-B2A3-D15BC427D5C6}" type="datetimeFigureOut">
              <a:rPr lang="en-IN" smtClean="0"/>
              <a:t>14-06-2026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380337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1FA0B-6DCE-47EE-B2A3-D15BC427D5C6}" type="datetimeFigureOut">
              <a:rPr lang="en-IN" smtClean="0"/>
              <a:t>14-06-2026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2322674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1FA0B-6DCE-47EE-B2A3-D15BC427D5C6}" type="datetimeFigureOut">
              <a:rPr lang="en-IN" smtClean="0"/>
              <a:t>14-06-2026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916847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901FA0B-6DCE-47EE-B2A3-D15BC427D5C6}" type="datetimeFigureOut">
              <a:rPr lang="en-IN" smtClean="0"/>
              <a:t>14-06-2026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2797145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901FA0B-6DCE-47EE-B2A3-D15BC427D5C6}" type="datetimeFigureOut">
              <a:rPr lang="en-IN" smtClean="0"/>
              <a:t>14-06-2026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88D485E-9C63-4D4E-9A22-72B9DF45BCBC}" type="slidenum">
              <a:rPr lang="en-IN" smtClean="0"/>
              <a:t>‹#›</a:t>
            </a:fld>
            <a:endParaRPr lang="en-IN"/>
          </a:p>
        </p:txBody>
      </p:sp>
    </p:spTree>
    <p:extLst>
      <p:ext uri="{BB962C8B-B14F-4D97-AF65-F5344CB8AC3E}">
        <p14:creationId xmlns:p14="http://schemas.microsoft.com/office/powerpoint/2010/main" val="4086757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1FA0B-6DCE-47EE-B2A3-D15BC427D5C6}" type="datetimeFigureOut">
              <a:rPr lang="en-IN" smtClean="0"/>
              <a:t>14-06-2026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3360862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1FA0B-6DCE-47EE-B2A3-D15BC427D5C6}"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1383827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1FA0B-6DCE-47EE-B2A3-D15BC427D5C6}" type="datetimeFigureOut">
              <a:rPr lang="en-IN" smtClean="0"/>
              <a:t>14-06-2026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8D485E-9C63-4D4E-9A22-72B9DF45BCBC}" type="slidenum">
              <a:rPr lang="en-IN" smtClean="0"/>
              <a:t>‹#›</a:t>
            </a:fld>
            <a:endParaRPr lang="en-IN"/>
          </a:p>
        </p:txBody>
      </p:sp>
    </p:spTree>
    <p:extLst>
      <p:ext uri="{BB962C8B-B14F-4D97-AF65-F5344CB8AC3E}">
        <p14:creationId xmlns:p14="http://schemas.microsoft.com/office/powerpoint/2010/main" val="2288918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022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901FA0B-6DCE-47EE-B2A3-D15BC427D5C6}" type="datetimeFigureOut">
              <a:rPr lang="en-IN" smtClean="0"/>
              <a:t>14-06-2026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88D485E-9C63-4D4E-9A22-72B9DF45BCB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674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1706880"/>
            <a:ext cx="10728960" cy="1341120"/>
          </a:xfrm>
          <a:prstGeom prst="rect">
            <a:avLst/>
          </a:prstGeom>
          <a:noFill/>
          <a:ln/>
        </p:spPr>
        <p:txBody>
          <a:bodyPr wrap="square" rtlCol="0" anchor="ctr"/>
          <a:lstStyle/>
          <a:p>
            <a:r>
              <a:rPr lang="en-US" sz="6400" b="1" dirty="0">
                <a:solidFill>
                  <a:srgbClr val="92D050"/>
                </a:solidFill>
                <a:latin typeface="Calibri" pitchFamily="34" charset="0"/>
                <a:ea typeface="Calibri" pitchFamily="34" charset="-122"/>
                <a:cs typeface="Calibri" pitchFamily="34" charset="-120"/>
              </a:rPr>
              <a:t>CSAT analytics</a:t>
            </a:r>
            <a:endParaRPr lang="en-US" sz="6400" dirty="0">
              <a:solidFill>
                <a:srgbClr val="92D050"/>
              </a:solidFill>
            </a:endParaRPr>
          </a:p>
        </p:txBody>
      </p:sp>
      <p:sp>
        <p:nvSpPr>
          <p:cNvPr id="3" name="Text 1"/>
          <p:cNvSpPr/>
          <p:nvPr/>
        </p:nvSpPr>
        <p:spPr>
          <a:xfrm>
            <a:off x="731520" y="3108960"/>
            <a:ext cx="10728960" cy="670560"/>
          </a:xfrm>
          <a:prstGeom prst="rect">
            <a:avLst/>
          </a:prstGeom>
          <a:noFill/>
          <a:ln/>
        </p:spPr>
        <p:txBody>
          <a:bodyPr wrap="square" rtlCol="0" anchor="ctr"/>
          <a:lstStyle/>
          <a:p>
            <a:r>
              <a:rPr lang="en-US" sz="2933" dirty="0">
                <a:solidFill>
                  <a:srgbClr val="92D050"/>
                </a:solidFill>
                <a:latin typeface="Calibri" pitchFamily="34" charset="0"/>
                <a:ea typeface="Calibri" pitchFamily="34" charset="-122"/>
                <a:cs typeface="Calibri" pitchFamily="34" charset="-120"/>
              </a:rPr>
              <a:t>Call Center Performance Insights</a:t>
            </a:r>
            <a:endParaRPr lang="en-US" sz="2933" dirty="0">
              <a:solidFill>
                <a:srgbClr val="92D050"/>
              </a:solidFill>
            </a:endParaRPr>
          </a:p>
        </p:txBody>
      </p:sp>
      <p:sp>
        <p:nvSpPr>
          <p:cNvPr id="4" name="Text 2"/>
          <p:cNvSpPr/>
          <p:nvPr/>
        </p:nvSpPr>
        <p:spPr>
          <a:xfrm>
            <a:off x="731520" y="3962400"/>
            <a:ext cx="10728960" cy="487680"/>
          </a:xfrm>
          <a:prstGeom prst="rect">
            <a:avLst/>
          </a:prstGeom>
          <a:noFill/>
          <a:ln/>
        </p:spPr>
        <p:txBody>
          <a:bodyPr wrap="square" rtlCol="0" anchor="ctr"/>
          <a:lstStyle/>
          <a:p>
            <a:r>
              <a:rPr lang="en-US" sz="1733" dirty="0">
                <a:solidFill>
                  <a:srgbClr val="8A96B0"/>
                </a:solidFill>
                <a:latin typeface="Calibri" pitchFamily="34" charset="0"/>
                <a:ea typeface="Calibri" pitchFamily="34" charset="-122"/>
                <a:cs typeface="Calibri" pitchFamily="34" charset="-120"/>
              </a:rPr>
              <a:t>US Call Center Dataset  •  32,941 Records  •  2020</a:t>
            </a:r>
            <a:endParaRPr lang="en-US" sz="1733" dirty="0"/>
          </a:p>
        </p:txBody>
      </p:sp>
      <p:sp>
        <p:nvSpPr>
          <p:cNvPr id="5" name="Shape 3"/>
          <p:cNvSpPr/>
          <p:nvPr/>
        </p:nvSpPr>
        <p:spPr>
          <a:xfrm>
            <a:off x="9509760" y="365760"/>
            <a:ext cx="3413760" cy="3413760"/>
          </a:xfrm>
          <a:prstGeom prst="ellipse">
            <a:avLst/>
          </a:prstGeom>
          <a:solidFill>
            <a:srgbClr val="028090">
              <a:alpha val="20000"/>
            </a:srgbClr>
          </a:solidFill>
          <a:ln w="19050">
            <a:solidFill>
              <a:srgbClr val="028090"/>
            </a:solidFill>
            <a:prstDash val="solid"/>
          </a:ln>
        </p:spPr>
      </p:sp>
      <p:sp>
        <p:nvSpPr>
          <p:cNvPr id="6" name="Shape 4"/>
          <p:cNvSpPr/>
          <p:nvPr/>
        </p:nvSpPr>
        <p:spPr>
          <a:xfrm>
            <a:off x="10119360" y="3901440"/>
            <a:ext cx="1828800" cy="1828800"/>
          </a:xfrm>
          <a:prstGeom prst="ellipse">
            <a:avLst/>
          </a:prstGeom>
          <a:solidFill>
            <a:srgbClr val="02C39A">
              <a:alpha val="25000"/>
            </a:srgbClr>
          </a:solidFill>
          <a:ln w="12700">
            <a:solidFill>
              <a:srgbClr val="02C39A"/>
            </a:solidFill>
            <a:prstDash val="solid"/>
          </a:ln>
        </p:spPr>
      </p:sp>
      <p:sp>
        <p:nvSpPr>
          <p:cNvPr id="7" name="Shape 5"/>
          <p:cNvSpPr/>
          <p:nvPr/>
        </p:nvSpPr>
        <p:spPr>
          <a:xfrm>
            <a:off x="731520" y="5242560"/>
            <a:ext cx="3048000" cy="1097280"/>
          </a:xfrm>
          <a:prstGeom prst="roundRect">
            <a:avLst>
              <a:gd name="adj" fmla="val 8889"/>
            </a:avLst>
          </a:prstGeom>
          <a:solidFill>
            <a:srgbClr val="1E2D5A"/>
          </a:solidFill>
          <a:ln/>
          <a:effectLst>
            <a:outerShdw blurRad="101600" dist="38100" dir="2700000" algn="bl" rotWithShape="0">
              <a:srgbClr val="000000">
                <a:alpha val="12000"/>
              </a:srgbClr>
            </a:outerShdw>
          </a:effectLst>
        </p:spPr>
      </p:sp>
      <p:sp>
        <p:nvSpPr>
          <p:cNvPr id="8" name="Text 6"/>
          <p:cNvSpPr/>
          <p:nvPr/>
        </p:nvSpPr>
        <p:spPr>
          <a:xfrm>
            <a:off x="731520" y="5303520"/>
            <a:ext cx="3048000" cy="548640"/>
          </a:xfrm>
          <a:prstGeom prst="rect">
            <a:avLst/>
          </a:prstGeom>
          <a:noFill/>
          <a:ln/>
        </p:spPr>
        <p:txBody>
          <a:bodyPr wrap="square" rtlCol="0" anchor="ctr"/>
          <a:lstStyle/>
          <a:p>
            <a:pPr algn="ctr"/>
            <a:r>
              <a:rPr lang="en-US" sz="2267" b="1" dirty="0">
                <a:solidFill>
                  <a:srgbClr val="02C39A"/>
                </a:solidFill>
                <a:latin typeface="Calibri" pitchFamily="34" charset="0"/>
                <a:ea typeface="Calibri" pitchFamily="34" charset="-122"/>
                <a:cs typeface="Calibri" pitchFamily="34" charset="-120"/>
              </a:rPr>
              <a:t>32,941</a:t>
            </a:r>
            <a:endParaRPr lang="en-US" sz="2267" dirty="0"/>
          </a:p>
        </p:txBody>
      </p:sp>
      <p:sp>
        <p:nvSpPr>
          <p:cNvPr id="9" name="Text 7"/>
          <p:cNvSpPr/>
          <p:nvPr/>
        </p:nvSpPr>
        <p:spPr>
          <a:xfrm>
            <a:off x="731520" y="5827776"/>
            <a:ext cx="3048000" cy="426720"/>
          </a:xfrm>
          <a:prstGeom prst="rect">
            <a:avLst/>
          </a:prstGeom>
          <a:noFill/>
          <a:ln/>
        </p:spPr>
        <p:txBody>
          <a:bodyPr wrap="square" rtlCol="0" anchor="ctr"/>
          <a:lstStyle/>
          <a:p>
            <a:pPr algn="ctr"/>
            <a:r>
              <a:rPr lang="en-US" sz="1333" dirty="0">
                <a:solidFill>
                  <a:srgbClr val="8A96B0"/>
                </a:solidFill>
                <a:latin typeface="Calibri" pitchFamily="34" charset="0"/>
                <a:ea typeface="Calibri" pitchFamily="34" charset="-122"/>
                <a:cs typeface="Calibri" pitchFamily="34" charset="-120"/>
              </a:rPr>
              <a:t>Total Calls</a:t>
            </a:r>
            <a:endParaRPr lang="en-US" sz="1333" dirty="0"/>
          </a:p>
        </p:txBody>
      </p:sp>
      <p:sp>
        <p:nvSpPr>
          <p:cNvPr id="10" name="Shape 8"/>
          <p:cNvSpPr/>
          <p:nvPr/>
        </p:nvSpPr>
        <p:spPr>
          <a:xfrm>
            <a:off x="4023360" y="5242560"/>
            <a:ext cx="3048000" cy="1097280"/>
          </a:xfrm>
          <a:prstGeom prst="roundRect">
            <a:avLst>
              <a:gd name="adj" fmla="val 8889"/>
            </a:avLst>
          </a:prstGeom>
          <a:solidFill>
            <a:srgbClr val="1E2D5A"/>
          </a:solidFill>
          <a:ln/>
          <a:effectLst>
            <a:outerShdw blurRad="101600" dist="38100" dir="2700000" algn="bl" rotWithShape="0">
              <a:srgbClr val="000000">
                <a:alpha val="12000"/>
              </a:srgbClr>
            </a:outerShdw>
          </a:effectLst>
        </p:spPr>
      </p:sp>
      <p:sp>
        <p:nvSpPr>
          <p:cNvPr id="11" name="Text 9"/>
          <p:cNvSpPr/>
          <p:nvPr/>
        </p:nvSpPr>
        <p:spPr>
          <a:xfrm>
            <a:off x="4023360" y="5303520"/>
            <a:ext cx="3048000" cy="548640"/>
          </a:xfrm>
          <a:prstGeom prst="rect">
            <a:avLst/>
          </a:prstGeom>
          <a:noFill/>
          <a:ln/>
        </p:spPr>
        <p:txBody>
          <a:bodyPr wrap="square" rtlCol="0" anchor="ctr"/>
          <a:lstStyle/>
          <a:p>
            <a:pPr algn="ctr"/>
            <a:r>
              <a:rPr lang="en-US" sz="2267" b="1" dirty="0">
                <a:solidFill>
                  <a:srgbClr val="02C39A"/>
                </a:solidFill>
                <a:latin typeface="Calibri" pitchFamily="34" charset="0"/>
                <a:ea typeface="Calibri" pitchFamily="34" charset="-122"/>
                <a:cs typeface="Calibri" pitchFamily="34" charset="-120"/>
              </a:rPr>
              <a:t>2.07 / 10</a:t>
            </a:r>
            <a:endParaRPr lang="en-US" sz="2267" dirty="0"/>
          </a:p>
        </p:txBody>
      </p:sp>
      <p:sp>
        <p:nvSpPr>
          <p:cNvPr id="12" name="Text 10"/>
          <p:cNvSpPr/>
          <p:nvPr/>
        </p:nvSpPr>
        <p:spPr>
          <a:xfrm>
            <a:off x="4023360" y="5827776"/>
            <a:ext cx="3048000" cy="426720"/>
          </a:xfrm>
          <a:prstGeom prst="rect">
            <a:avLst/>
          </a:prstGeom>
          <a:noFill/>
          <a:ln/>
        </p:spPr>
        <p:txBody>
          <a:bodyPr wrap="square" rtlCol="0" anchor="ctr"/>
          <a:lstStyle/>
          <a:p>
            <a:pPr algn="ctr"/>
            <a:r>
              <a:rPr lang="en-US" sz="1333" dirty="0">
                <a:solidFill>
                  <a:srgbClr val="8A96B0"/>
                </a:solidFill>
                <a:latin typeface="Calibri" pitchFamily="34" charset="0"/>
                <a:ea typeface="Calibri" pitchFamily="34" charset="-122"/>
                <a:cs typeface="Calibri" pitchFamily="34" charset="-120"/>
              </a:rPr>
              <a:t>Avg CSAT Score</a:t>
            </a:r>
            <a:endParaRPr lang="en-US" sz="1333" dirty="0"/>
          </a:p>
        </p:txBody>
      </p:sp>
      <p:sp>
        <p:nvSpPr>
          <p:cNvPr id="13" name="Shape 11"/>
          <p:cNvSpPr/>
          <p:nvPr/>
        </p:nvSpPr>
        <p:spPr>
          <a:xfrm>
            <a:off x="7315200" y="5242560"/>
            <a:ext cx="3048000" cy="1097280"/>
          </a:xfrm>
          <a:prstGeom prst="roundRect">
            <a:avLst>
              <a:gd name="adj" fmla="val 8889"/>
            </a:avLst>
          </a:prstGeom>
          <a:solidFill>
            <a:srgbClr val="1E2D5A"/>
          </a:solidFill>
          <a:ln/>
          <a:effectLst>
            <a:outerShdw blurRad="101600" dist="38100" dir="2700000" algn="bl" rotWithShape="0">
              <a:srgbClr val="000000">
                <a:alpha val="12000"/>
              </a:srgbClr>
            </a:outerShdw>
          </a:effectLst>
        </p:spPr>
      </p:sp>
      <p:sp>
        <p:nvSpPr>
          <p:cNvPr id="14" name="Text 12"/>
          <p:cNvSpPr/>
          <p:nvPr/>
        </p:nvSpPr>
        <p:spPr>
          <a:xfrm>
            <a:off x="7315200" y="5303520"/>
            <a:ext cx="3048000" cy="548640"/>
          </a:xfrm>
          <a:prstGeom prst="rect">
            <a:avLst/>
          </a:prstGeom>
          <a:noFill/>
          <a:ln/>
        </p:spPr>
        <p:txBody>
          <a:bodyPr wrap="square" rtlCol="0" anchor="ctr"/>
          <a:lstStyle/>
          <a:p>
            <a:pPr algn="ctr"/>
            <a:r>
              <a:rPr lang="en-US" sz="2267" b="1" dirty="0">
                <a:solidFill>
                  <a:srgbClr val="02C39A"/>
                </a:solidFill>
                <a:latin typeface="Calibri" pitchFamily="34" charset="0"/>
                <a:ea typeface="Calibri" pitchFamily="34" charset="-122"/>
                <a:cs typeface="Calibri" pitchFamily="34" charset="-120"/>
              </a:rPr>
              <a:t>25.02 min</a:t>
            </a:r>
            <a:endParaRPr lang="en-US" sz="2267" dirty="0"/>
          </a:p>
        </p:txBody>
      </p:sp>
      <p:sp>
        <p:nvSpPr>
          <p:cNvPr id="15" name="Text 13"/>
          <p:cNvSpPr/>
          <p:nvPr/>
        </p:nvSpPr>
        <p:spPr>
          <a:xfrm>
            <a:off x="7315200" y="5827776"/>
            <a:ext cx="3048000" cy="426720"/>
          </a:xfrm>
          <a:prstGeom prst="rect">
            <a:avLst/>
          </a:prstGeom>
          <a:noFill/>
          <a:ln/>
        </p:spPr>
        <p:txBody>
          <a:bodyPr wrap="square" rtlCol="0" anchor="ctr"/>
          <a:lstStyle/>
          <a:p>
            <a:pPr algn="ctr"/>
            <a:r>
              <a:rPr lang="en-US" sz="1333" dirty="0">
                <a:solidFill>
                  <a:srgbClr val="8A96B0"/>
                </a:solidFill>
                <a:latin typeface="Calibri" pitchFamily="34" charset="0"/>
                <a:ea typeface="Calibri" pitchFamily="34" charset="-122"/>
                <a:cs typeface="Calibri" pitchFamily="34" charset="-120"/>
              </a:rPr>
              <a:t>Avg Call Duration</a:t>
            </a:r>
            <a:endParaRPr lang="en-US" sz="13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DD9B63-AA9B-4375-9403-15260632E999}"/>
              </a:ext>
            </a:extLst>
          </p:cNvPr>
          <p:cNvSpPr txBox="1"/>
          <p:nvPr/>
        </p:nvSpPr>
        <p:spPr>
          <a:xfrm>
            <a:off x="246888" y="658368"/>
            <a:ext cx="12033504" cy="3892732"/>
          </a:xfrm>
          <a:prstGeom prst="rect">
            <a:avLst/>
          </a:prstGeom>
          <a:noFill/>
        </p:spPr>
        <p:txBody>
          <a:bodyPr wrap="square" rtlCol="0">
            <a:spAutoFit/>
          </a:bodyPr>
          <a:lstStyle/>
          <a:p>
            <a:r>
              <a:rPr lang="en-US" u="sng" dirty="0"/>
              <a:t>About Dataset:</a:t>
            </a:r>
            <a:endParaRPr lang="en-IN" dirty="0"/>
          </a:p>
          <a:p>
            <a:r>
              <a:rPr lang="en-US" dirty="0"/>
              <a:t> </a:t>
            </a:r>
            <a:endParaRPr lang="en-IN" dirty="0"/>
          </a:p>
          <a:p>
            <a:pPr>
              <a:lnSpc>
                <a:spcPct val="200000"/>
              </a:lnSpc>
            </a:pPr>
            <a:r>
              <a:rPr lang="en-US" dirty="0"/>
              <a:t>The goal of this project is to identify patterns, trends, and insights that can be used to optimize customer service processes, improve customer satisfaction, and enhance the overall customer experience.</a:t>
            </a:r>
            <a:endParaRPr lang="en-IN" dirty="0"/>
          </a:p>
          <a:p>
            <a:pPr>
              <a:lnSpc>
                <a:spcPct val="200000"/>
              </a:lnSpc>
            </a:pPr>
            <a:r>
              <a:rPr lang="en-IN" dirty="0"/>
              <a:t>This particular dataset holds 12 columns and 32,942 records. The 12 columns have information like their customer's name, sentiment, CSAT score, call timestamp, reason for the call, city, state, channel used, response time, and call duration in minutes which is  used to </a:t>
            </a:r>
            <a:r>
              <a:rPr lang="en-IN" dirty="0" err="1"/>
              <a:t>analyze</a:t>
            </a:r>
            <a:r>
              <a:rPr lang="en-IN" dirty="0"/>
              <a:t> customer satisfaction and to identify common issues or concerns, and optimize customer service processes</a:t>
            </a:r>
          </a:p>
        </p:txBody>
      </p:sp>
    </p:spTree>
    <p:extLst>
      <p:ext uri="{BB962C8B-B14F-4D97-AF65-F5344CB8AC3E}">
        <p14:creationId xmlns:p14="http://schemas.microsoft.com/office/powerpoint/2010/main" val="3445994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036FA7-4EB5-F386-EFC3-4E9E1B749806}"/>
              </a:ext>
            </a:extLst>
          </p:cNvPr>
          <p:cNvSpPr txBox="1"/>
          <p:nvPr/>
        </p:nvSpPr>
        <p:spPr>
          <a:xfrm>
            <a:off x="0" y="0"/>
            <a:ext cx="11942064" cy="4689104"/>
          </a:xfrm>
          <a:prstGeom prst="rect">
            <a:avLst/>
          </a:prstGeom>
          <a:noFill/>
        </p:spPr>
        <p:txBody>
          <a:bodyPr wrap="square" rtlCol="0">
            <a:spAutoFit/>
          </a:bodyPr>
          <a:lstStyle/>
          <a:p>
            <a:r>
              <a:rPr lang="en-IN" sz="3600" b="1" u="sng" dirty="0"/>
              <a:t>Task:</a:t>
            </a:r>
            <a:endParaRPr lang="en-IN" sz="3600" b="1" dirty="0"/>
          </a:p>
          <a:p>
            <a:pPr marL="342900" lvl="0" indent="-342900">
              <a:lnSpc>
                <a:spcPct val="250000"/>
              </a:lnSpc>
              <a:buFont typeface="+mj-lt"/>
              <a:buAutoNum type="arabicPeriod"/>
            </a:pPr>
            <a:r>
              <a:rPr lang="en-IN" dirty="0"/>
              <a:t>Create line Chart for the call trends.</a:t>
            </a:r>
          </a:p>
          <a:p>
            <a:pPr marL="342900" lvl="0" indent="-342900">
              <a:lnSpc>
                <a:spcPct val="250000"/>
              </a:lnSpc>
              <a:buFont typeface="+mj-lt"/>
              <a:buAutoNum type="arabicPeriod"/>
            </a:pPr>
            <a:r>
              <a:rPr lang="en-IN" dirty="0"/>
              <a:t>Create a doughnut chart for the Call channel.</a:t>
            </a:r>
          </a:p>
          <a:p>
            <a:pPr marL="342900" lvl="0" indent="-342900">
              <a:lnSpc>
                <a:spcPct val="250000"/>
              </a:lnSpc>
              <a:buFont typeface="+mj-lt"/>
              <a:buAutoNum type="arabicPeriod"/>
            </a:pPr>
            <a:r>
              <a:rPr lang="en-IN" dirty="0"/>
              <a:t>Create a map for the states.</a:t>
            </a:r>
          </a:p>
          <a:p>
            <a:pPr marL="342900" lvl="0" indent="-342900">
              <a:lnSpc>
                <a:spcPct val="250000"/>
              </a:lnSpc>
              <a:buFont typeface="+mj-lt"/>
              <a:buAutoNum type="arabicPeriod"/>
            </a:pPr>
            <a:r>
              <a:rPr lang="en-IN" dirty="0"/>
              <a:t>Create a column chart for the reason of calling.</a:t>
            </a:r>
          </a:p>
          <a:p>
            <a:pPr marL="342900" lvl="0" indent="-342900">
              <a:lnSpc>
                <a:spcPct val="250000"/>
              </a:lnSpc>
              <a:buFont typeface="+mj-lt"/>
              <a:buAutoNum type="arabicPeriod"/>
            </a:pPr>
            <a:r>
              <a:rPr lang="en-IN" dirty="0"/>
              <a:t>Create a bar chart for the response time.</a:t>
            </a:r>
          </a:p>
          <a:p>
            <a:pPr lvl="0">
              <a:lnSpc>
                <a:spcPct val="250000"/>
              </a:lnSpc>
            </a:pPr>
            <a:endParaRPr lang="en-IN" dirty="0"/>
          </a:p>
        </p:txBody>
      </p:sp>
    </p:spTree>
    <p:extLst>
      <p:ext uri="{BB962C8B-B14F-4D97-AF65-F5344CB8AC3E}">
        <p14:creationId xmlns:p14="http://schemas.microsoft.com/office/powerpoint/2010/main" val="18434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EB0F27-DD03-F5E8-2B17-3895D59D9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7744"/>
            <a:ext cx="12192000" cy="6515748"/>
          </a:xfrm>
          <a:prstGeom prst="rect">
            <a:avLst/>
          </a:prstGeom>
        </p:spPr>
      </p:pic>
    </p:spTree>
    <p:extLst>
      <p:ext uri="{BB962C8B-B14F-4D97-AF65-F5344CB8AC3E}">
        <p14:creationId xmlns:p14="http://schemas.microsoft.com/office/powerpoint/2010/main" val="1351262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6AD4B-BEAA-6968-2B15-843667D55EE3}"/>
              </a:ext>
            </a:extLst>
          </p:cNvPr>
          <p:cNvSpPr txBox="1"/>
          <p:nvPr/>
        </p:nvSpPr>
        <p:spPr>
          <a:xfrm>
            <a:off x="0" y="-164592"/>
            <a:ext cx="11832336" cy="672620"/>
          </a:xfrm>
          <a:prstGeom prst="rect">
            <a:avLst/>
          </a:prstGeom>
          <a:noFill/>
        </p:spPr>
        <p:txBody>
          <a:bodyPr wrap="square" rtlCol="0">
            <a:spAutoFit/>
          </a:bodyPr>
          <a:lstStyle/>
          <a:p>
            <a:pPr marL="342900" lvl="0" indent="-342900">
              <a:lnSpc>
                <a:spcPct val="250000"/>
              </a:lnSpc>
              <a:buFont typeface="+mj-lt"/>
              <a:buAutoNum type="arabicPeriod"/>
            </a:pPr>
            <a:r>
              <a:rPr lang="en-IN"/>
              <a:t>Create line Chart for the call trends.</a:t>
            </a:r>
            <a:endParaRPr lang="en-IN" dirty="0"/>
          </a:p>
        </p:txBody>
      </p:sp>
      <p:pic>
        <p:nvPicPr>
          <p:cNvPr id="6" name="Picture 5">
            <a:extLst>
              <a:ext uri="{FF2B5EF4-FFF2-40B4-BE49-F238E27FC236}">
                <a16:creationId xmlns:a16="http://schemas.microsoft.com/office/drawing/2014/main" id="{78A7795A-1586-0DC6-2F30-26E38CEAC3A6}"/>
              </a:ext>
            </a:extLst>
          </p:cNvPr>
          <p:cNvPicPr>
            <a:picLocks noChangeAspect="1"/>
          </p:cNvPicPr>
          <p:nvPr/>
        </p:nvPicPr>
        <p:blipFill>
          <a:blip r:embed="rId2">
            <a:extLst>
              <a:ext uri="{28A0092B-C50C-407E-A947-70E740481C1C}">
                <a14:useLocalDpi xmlns:a14="http://schemas.microsoft.com/office/drawing/2010/main" val="0"/>
              </a:ext>
            </a:extLst>
          </a:blip>
          <a:srcRect l="3243" t="5664"/>
          <a:stretch>
            <a:fillRect/>
          </a:stretch>
        </p:blipFill>
        <p:spPr>
          <a:xfrm>
            <a:off x="1837944" y="585216"/>
            <a:ext cx="7751813" cy="4178808"/>
          </a:xfrm>
          <a:prstGeom prst="rect">
            <a:avLst/>
          </a:prstGeom>
        </p:spPr>
      </p:pic>
      <p:sp>
        <p:nvSpPr>
          <p:cNvPr id="8" name="TextBox 7">
            <a:extLst>
              <a:ext uri="{FF2B5EF4-FFF2-40B4-BE49-F238E27FC236}">
                <a16:creationId xmlns:a16="http://schemas.microsoft.com/office/drawing/2014/main" id="{EDAD24E1-2A3C-1074-ECFB-EB61505AF344}"/>
              </a:ext>
            </a:extLst>
          </p:cNvPr>
          <p:cNvSpPr txBox="1"/>
          <p:nvPr/>
        </p:nvSpPr>
        <p:spPr>
          <a:xfrm>
            <a:off x="884682" y="4841212"/>
            <a:ext cx="9594342" cy="1676741"/>
          </a:xfrm>
          <a:prstGeom prst="rect">
            <a:avLst/>
          </a:prstGeom>
          <a:noFill/>
        </p:spPr>
        <p:txBody>
          <a:bodyPr wrap="square">
            <a:spAutoFit/>
          </a:bodyPr>
          <a:lstStyle/>
          <a:p>
            <a:pPr>
              <a:lnSpc>
                <a:spcPct val="200000"/>
              </a:lnSpc>
              <a:buNone/>
            </a:pPr>
            <a:r>
              <a:rPr lang="en-IN" b="1" u="sng" dirty="0"/>
              <a:t>Daily Volume Trend (October)</a:t>
            </a:r>
            <a:endParaRPr lang="en-IN" u="sng" dirty="0"/>
          </a:p>
          <a:p>
            <a:pPr>
              <a:lnSpc>
                <a:spcPct val="200000"/>
              </a:lnSpc>
              <a:buFont typeface="Arial" panose="020B0604020202020204" pitchFamily="34" charset="0"/>
              <a:buChar char="•"/>
            </a:pPr>
            <a:r>
              <a:rPr lang="en-IN" dirty="0"/>
              <a:t>Consistent  1,050– 1,175 contacts/day throughout October</a:t>
            </a:r>
          </a:p>
          <a:p>
            <a:pPr>
              <a:lnSpc>
                <a:spcPct val="200000"/>
              </a:lnSpc>
            </a:pPr>
            <a:endParaRPr lang="en-IN" dirty="0"/>
          </a:p>
        </p:txBody>
      </p:sp>
    </p:spTree>
    <p:extLst>
      <p:ext uri="{BB962C8B-B14F-4D97-AF65-F5344CB8AC3E}">
        <p14:creationId xmlns:p14="http://schemas.microsoft.com/office/powerpoint/2010/main" val="494801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4A5A3-A9AF-22F2-3CA6-EC3FEA472F90}"/>
              </a:ext>
            </a:extLst>
          </p:cNvPr>
          <p:cNvSpPr txBox="1"/>
          <p:nvPr/>
        </p:nvSpPr>
        <p:spPr>
          <a:xfrm>
            <a:off x="64008" y="-217438"/>
            <a:ext cx="11841480" cy="672620"/>
          </a:xfrm>
          <a:prstGeom prst="rect">
            <a:avLst/>
          </a:prstGeom>
          <a:noFill/>
        </p:spPr>
        <p:txBody>
          <a:bodyPr wrap="square" rtlCol="0">
            <a:spAutoFit/>
          </a:bodyPr>
          <a:lstStyle/>
          <a:p>
            <a:pPr lvl="0">
              <a:lnSpc>
                <a:spcPct val="250000"/>
              </a:lnSpc>
            </a:pPr>
            <a:r>
              <a:rPr lang="en-IN" dirty="0"/>
              <a:t>2. Create a doughnut chart for the Call channel.</a:t>
            </a:r>
          </a:p>
        </p:txBody>
      </p:sp>
      <p:pic>
        <p:nvPicPr>
          <p:cNvPr id="6" name="Picture 5">
            <a:extLst>
              <a:ext uri="{FF2B5EF4-FFF2-40B4-BE49-F238E27FC236}">
                <a16:creationId xmlns:a16="http://schemas.microsoft.com/office/drawing/2014/main" id="{07F7C9D0-65B3-E64D-0293-6141DE9A560B}"/>
              </a:ext>
            </a:extLst>
          </p:cNvPr>
          <p:cNvPicPr>
            <a:picLocks noChangeAspect="1"/>
          </p:cNvPicPr>
          <p:nvPr/>
        </p:nvPicPr>
        <p:blipFill>
          <a:blip r:embed="rId2">
            <a:extLst>
              <a:ext uri="{28A0092B-C50C-407E-A947-70E740481C1C}">
                <a14:useLocalDpi xmlns:a14="http://schemas.microsoft.com/office/drawing/2010/main" val="0"/>
              </a:ext>
            </a:extLst>
          </a:blip>
          <a:srcRect t="6411"/>
          <a:stretch>
            <a:fillRect/>
          </a:stretch>
        </p:blipFill>
        <p:spPr>
          <a:xfrm>
            <a:off x="2879255" y="455182"/>
            <a:ext cx="4915586" cy="3789137"/>
          </a:xfrm>
          <a:prstGeom prst="rect">
            <a:avLst/>
          </a:prstGeom>
        </p:spPr>
      </p:pic>
      <p:sp>
        <p:nvSpPr>
          <p:cNvPr id="8" name="TextBox 7">
            <a:extLst>
              <a:ext uri="{FF2B5EF4-FFF2-40B4-BE49-F238E27FC236}">
                <a16:creationId xmlns:a16="http://schemas.microsoft.com/office/drawing/2014/main" id="{EE9F023C-B9DE-3C69-1327-D035A44D405A}"/>
              </a:ext>
            </a:extLst>
          </p:cNvPr>
          <p:cNvSpPr txBox="1"/>
          <p:nvPr/>
        </p:nvSpPr>
        <p:spPr>
          <a:xfrm>
            <a:off x="962406" y="4400264"/>
            <a:ext cx="10632186" cy="1676741"/>
          </a:xfrm>
          <a:prstGeom prst="rect">
            <a:avLst/>
          </a:prstGeom>
          <a:noFill/>
        </p:spPr>
        <p:txBody>
          <a:bodyPr wrap="square">
            <a:spAutoFit/>
          </a:bodyPr>
          <a:lstStyle/>
          <a:p>
            <a:pPr>
              <a:lnSpc>
                <a:spcPct val="200000"/>
              </a:lnSpc>
              <a:buNone/>
            </a:pPr>
            <a:r>
              <a:rPr lang="en-IN" b="1" u="sng" dirty="0"/>
              <a:t>Channel Distribution</a:t>
            </a:r>
            <a:endParaRPr lang="en-IN" u="sng" dirty="0"/>
          </a:p>
          <a:p>
            <a:pPr>
              <a:lnSpc>
                <a:spcPct val="200000"/>
              </a:lnSpc>
              <a:buFont typeface="Arial" panose="020B0604020202020204" pitchFamily="34" charset="0"/>
              <a:buChar char="•"/>
            </a:pPr>
            <a:r>
              <a:rPr lang="en-IN" dirty="0"/>
              <a:t>Call-Centre dominates at 10.64K (32%), followed by Chatbot 8.26K (25%), Email 7.47K (23%), Web 6.58K (20%)</a:t>
            </a:r>
          </a:p>
          <a:p>
            <a:pPr>
              <a:lnSpc>
                <a:spcPct val="200000"/>
              </a:lnSpc>
              <a:buFont typeface="Arial" panose="020B0604020202020204" pitchFamily="34" charset="0"/>
              <a:buChar char="•"/>
            </a:pPr>
            <a:r>
              <a:rPr lang="en-IN" dirty="0"/>
              <a:t>Volume is relatively balanced across channels, but call-centre dependency is highest — a cost concern</a:t>
            </a:r>
          </a:p>
        </p:txBody>
      </p:sp>
    </p:spTree>
    <p:extLst>
      <p:ext uri="{BB962C8B-B14F-4D97-AF65-F5344CB8AC3E}">
        <p14:creationId xmlns:p14="http://schemas.microsoft.com/office/powerpoint/2010/main" val="1268943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451A1E-709F-B4C0-D993-0E00A4CBAE0C}"/>
              </a:ext>
            </a:extLst>
          </p:cNvPr>
          <p:cNvSpPr txBox="1"/>
          <p:nvPr/>
        </p:nvSpPr>
        <p:spPr>
          <a:xfrm>
            <a:off x="0" y="-173736"/>
            <a:ext cx="11960352" cy="672620"/>
          </a:xfrm>
          <a:prstGeom prst="rect">
            <a:avLst/>
          </a:prstGeom>
          <a:noFill/>
        </p:spPr>
        <p:txBody>
          <a:bodyPr wrap="square" rtlCol="0">
            <a:spAutoFit/>
          </a:bodyPr>
          <a:lstStyle/>
          <a:p>
            <a:pPr lvl="0">
              <a:lnSpc>
                <a:spcPct val="250000"/>
              </a:lnSpc>
            </a:pPr>
            <a:r>
              <a:rPr lang="en-IN" dirty="0"/>
              <a:t>3. Create a map for the states.</a:t>
            </a:r>
          </a:p>
        </p:txBody>
      </p:sp>
      <p:pic>
        <p:nvPicPr>
          <p:cNvPr id="6" name="Picture 5">
            <a:extLst>
              <a:ext uri="{FF2B5EF4-FFF2-40B4-BE49-F238E27FC236}">
                <a16:creationId xmlns:a16="http://schemas.microsoft.com/office/drawing/2014/main" id="{5AC17CDF-9F1D-A281-9073-D686BB444E23}"/>
              </a:ext>
            </a:extLst>
          </p:cNvPr>
          <p:cNvPicPr>
            <a:picLocks noChangeAspect="1"/>
          </p:cNvPicPr>
          <p:nvPr/>
        </p:nvPicPr>
        <p:blipFill>
          <a:blip r:embed="rId2">
            <a:extLst>
              <a:ext uri="{28A0092B-C50C-407E-A947-70E740481C1C}">
                <a14:useLocalDpi xmlns:a14="http://schemas.microsoft.com/office/drawing/2010/main" val="0"/>
              </a:ext>
            </a:extLst>
          </a:blip>
          <a:srcRect t="5427"/>
          <a:stretch>
            <a:fillRect/>
          </a:stretch>
        </p:blipFill>
        <p:spPr>
          <a:xfrm>
            <a:off x="2505084" y="498884"/>
            <a:ext cx="5334744" cy="3919064"/>
          </a:xfrm>
          <a:prstGeom prst="rect">
            <a:avLst/>
          </a:prstGeom>
        </p:spPr>
      </p:pic>
      <p:sp>
        <p:nvSpPr>
          <p:cNvPr id="8" name="TextBox 7">
            <a:extLst>
              <a:ext uri="{FF2B5EF4-FFF2-40B4-BE49-F238E27FC236}">
                <a16:creationId xmlns:a16="http://schemas.microsoft.com/office/drawing/2014/main" id="{1FD7FDED-6334-1633-A71D-7363B6031804}"/>
              </a:ext>
            </a:extLst>
          </p:cNvPr>
          <p:cNvSpPr txBox="1"/>
          <p:nvPr/>
        </p:nvSpPr>
        <p:spPr>
          <a:xfrm>
            <a:off x="356616" y="4985052"/>
            <a:ext cx="11512296" cy="1200329"/>
          </a:xfrm>
          <a:prstGeom prst="rect">
            <a:avLst/>
          </a:prstGeom>
          <a:noFill/>
        </p:spPr>
        <p:txBody>
          <a:bodyPr wrap="square">
            <a:spAutoFit/>
          </a:bodyPr>
          <a:lstStyle/>
          <a:p>
            <a:pPr>
              <a:lnSpc>
                <a:spcPct val="200000"/>
              </a:lnSpc>
              <a:buNone/>
            </a:pPr>
            <a:r>
              <a:rPr lang="en-IN" b="1" u="sng" dirty="0"/>
              <a:t>Geographic Distribution</a:t>
            </a:r>
            <a:endParaRPr lang="en-IN" u="sng" dirty="0"/>
          </a:p>
          <a:p>
            <a:pPr>
              <a:buFont typeface="Arial" panose="020B0604020202020204" pitchFamily="34" charset="0"/>
              <a:buChar char="•"/>
            </a:pPr>
            <a:r>
              <a:rPr lang="en-IN" dirty="0"/>
              <a:t>Bubble map shows spread across most US states</a:t>
            </a:r>
          </a:p>
          <a:p>
            <a:pPr>
              <a:buFont typeface="Arial" panose="020B0604020202020204" pitchFamily="34" charset="0"/>
              <a:buChar char="•"/>
            </a:pPr>
            <a:r>
              <a:rPr lang="en-IN" dirty="0"/>
              <a:t>Higher density visible in the Northeast, Southeast, and parts of the South/Midwest — aligns with population centres</a:t>
            </a:r>
          </a:p>
        </p:txBody>
      </p:sp>
    </p:spTree>
    <p:extLst>
      <p:ext uri="{BB962C8B-B14F-4D97-AF65-F5344CB8AC3E}">
        <p14:creationId xmlns:p14="http://schemas.microsoft.com/office/powerpoint/2010/main" val="3614974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B7E439-BD81-E537-940F-781DA754DACB}"/>
              </a:ext>
            </a:extLst>
          </p:cNvPr>
          <p:cNvSpPr txBox="1"/>
          <p:nvPr/>
        </p:nvSpPr>
        <p:spPr>
          <a:xfrm>
            <a:off x="94488" y="5060883"/>
            <a:ext cx="12097512" cy="1122743"/>
          </a:xfrm>
          <a:prstGeom prst="rect">
            <a:avLst/>
          </a:prstGeom>
          <a:noFill/>
        </p:spPr>
        <p:txBody>
          <a:bodyPr wrap="square" rtlCol="0">
            <a:spAutoFit/>
          </a:bodyPr>
          <a:lstStyle/>
          <a:p>
            <a:r>
              <a:rPr lang="en-IN" b="1" u="sng" dirty="0"/>
              <a:t>Contact Reasons</a:t>
            </a:r>
          </a:p>
          <a:p>
            <a:pPr marL="285750" indent="-285750">
              <a:buFont typeface="Arial" panose="020B0604020202020204" pitchFamily="34" charset="0"/>
              <a:buChar char="•"/>
            </a:pPr>
            <a:r>
              <a:rPr lang="en-IN" dirty="0"/>
              <a:t>   Billing Question is overwhelmingly dominant at 23.5K vs Payments and Service Outage at 4.7K each</a:t>
            </a:r>
          </a:p>
          <a:p>
            <a:pPr marL="285750" indent="-285750">
              <a:lnSpc>
                <a:spcPct val="200000"/>
              </a:lnSpc>
              <a:buFont typeface="Arial" panose="020B0604020202020204" pitchFamily="34" charset="0"/>
              <a:buChar char="•"/>
            </a:pPr>
            <a:r>
              <a:rPr lang="en-IN" dirty="0"/>
              <a:t>  71% of all contacts are billing-related — points to a self-service or billing clarity gap</a:t>
            </a:r>
          </a:p>
        </p:txBody>
      </p:sp>
      <p:sp>
        <p:nvSpPr>
          <p:cNvPr id="5" name="TextBox 4">
            <a:extLst>
              <a:ext uri="{FF2B5EF4-FFF2-40B4-BE49-F238E27FC236}">
                <a16:creationId xmlns:a16="http://schemas.microsoft.com/office/drawing/2014/main" id="{F95E2773-086E-2ABF-C3D3-72A333AB078D}"/>
              </a:ext>
            </a:extLst>
          </p:cNvPr>
          <p:cNvSpPr txBox="1"/>
          <p:nvPr/>
        </p:nvSpPr>
        <p:spPr>
          <a:xfrm>
            <a:off x="94488" y="-210526"/>
            <a:ext cx="11969496" cy="672620"/>
          </a:xfrm>
          <a:prstGeom prst="rect">
            <a:avLst/>
          </a:prstGeom>
          <a:noFill/>
        </p:spPr>
        <p:txBody>
          <a:bodyPr wrap="square" rtlCol="0">
            <a:spAutoFit/>
          </a:bodyPr>
          <a:lstStyle/>
          <a:p>
            <a:pPr lvl="0">
              <a:lnSpc>
                <a:spcPct val="250000"/>
              </a:lnSpc>
            </a:pPr>
            <a:r>
              <a:rPr lang="en-IN" dirty="0"/>
              <a:t>4. Create a column chart for the reason of calling.</a:t>
            </a:r>
          </a:p>
        </p:txBody>
      </p:sp>
      <p:pic>
        <p:nvPicPr>
          <p:cNvPr id="7" name="Picture 6">
            <a:extLst>
              <a:ext uri="{FF2B5EF4-FFF2-40B4-BE49-F238E27FC236}">
                <a16:creationId xmlns:a16="http://schemas.microsoft.com/office/drawing/2014/main" id="{65150D1B-5EDE-5A72-B222-E385D439F84E}"/>
              </a:ext>
            </a:extLst>
          </p:cNvPr>
          <p:cNvPicPr>
            <a:picLocks noChangeAspect="1"/>
          </p:cNvPicPr>
          <p:nvPr/>
        </p:nvPicPr>
        <p:blipFill>
          <a:blip r:embed="rId2">
            <a:extLst>
              <a:ext uri="{28A0092B-C50C-407E-A947-70E740481C1C}">
                <a14:useLocalDpi xmlns:a14="http://schemas.microsoft.com/office/drawing/2010/main" val="0"/>
              </a:ext>
            </a:extLst>
          </a:blip>
          <a:srcRect t="6047"/>
          <a:stretch>
            <a:fillRect/>
          </a:stretch>
        </p:blipFill>
        <p:spPr>
          <a:xfrm>
            <a:off x="1975990" y="537478"/>
            <a:ext cx="6411220" cy="4609416"/>
          </a:xfrm>
          <a:prstGeom prst="rect">
            <a:avLst/>
          </a:prstGeom>
        </p:spPr>
      </p:pic>
    </p:spTree>
    <p:extLst>
      <p:ext uri="{BB962C8B-B14F-4D97-AF65-F5344CB8AC3E}">
        <p14:creationId xmlns:p14="http://schemas.microsoft.com/office/powerpoint/2010/main" val="3685680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02D8EC-EE76-DE41-57BD-BFD2FF022A85}"/>
              </a:ext>
            </a:extLst>
          </p:cNvPr>
          <p:cNvSpPr txBox="1"/>
          <p:nvPr/>
        </p:nvSpPr>
        <p:spPr>
          <a:xfrm>
            <a:off x="0" y="-190006"/>
            <a:ext cx="6094476" cy="672620"/>
          </a:xfrm>
          <a:prstGeom prst="rect">
            <a:avLst/>
          </a:prstGeom>
          <a:noFill/>
        </p:spPr>
        <p:txBody>
          <a:bodyPr wrap="square">
            <a:spAutoFit/>
          </a:bodyPr>
          <a:lstStyle/>
          <a:p>
            <a:pPr lvl="0">
              <a:lnSpc>
                <a:spcPct val="250000"/>
              </a:lnSpc>
            </a:pPr>
            <a:r>
              <a:rPr lang="en-IN" dirty="0"/>
              <a:t>5. Create a bar chart for the response time.</a:t>
            </a:r>
          </a:p>
        </p:txBody>
      </p:sp>
      <p:pic>
        <p:nvPicPr>
          <p:cNvPr id="6" name="Picture 5">
            <a:extLst>
              <a:ext uri="{FF2B5EF4-FFF2-40B4-BE49-F238E27FC236}">
                <a16:creationId xmlns:a16="http://schemas.microsoft.com/office/drawing/2014/main" id="{BB48BEE9-46A1-4193-AC03-A3492FA3D0E6}"/>
              </a:ext>
            </a:extLst>
          </p:cNvPr>
          <p:cNvPicPr>
            <a:picLocks noChangeAspect="1"/>
          </p:cNvPicPr>
          <p:nvPr/>
        </p:nvPicPr>
        <p:blipFill>
          <a:blip r:embed="rId2">
            <a:extLst>
              <a:ext uri="{28A0092B-C50C-407E-A947-70E740481C1C}">
                <a14:useLocalDpi xmlns:a14="http://schemas.microsoft.com/office/drawing/2010/main" val="0"/>
              </a:ext>
            </a:extLst>
          </a:blip>
          <a:srcRect t="22575"/>
          <a:stretch>
            <a:fillRect/>
          </a:stretch>
        </p:blipFill>
        <p:spPr>
          <a:xfrm>
            <a:off x="1836472" y="722376"/>
            <a:ext cx="7440063" cy="3304330"/>
          </a:xfrm>
          <a:prstGeom prst="rect">
            <a:avLst/>
          </a:prstGeom>
        </p:spPr>
      </p:pic>
      <p:sp>
        <p:nvSpPr>
          <p:cNvPr id="8" name="TextBox 7">
            <a:extLst>
              <a:ext uri="{FF2B5EF4-FFF2-40B4-BE49-F238E27FC236}">
                <a16:creationId xmlns:a16="http://schemas.microsoft.com/office/drawing/2014/main" id="{E1B0F2F3-59FC-ABAC-E589-20EDC1D0A370}"/>
              </a:ext>
            </a:extLst>
          </p:cNvPr>
          <p:cNvSpPr txBox="1"/>
          <p:nvPr/>
        </p:nvSpPr>
        <p:spPr>
          <a:xfrm>
            <a:off x="265176" y="4333024"/>
            <a:ext cx="11439144" cy="1676741"/>
          </a:xfrm>
          <a:prstGeom prst="rect">
            <a:avLst/>
          </a:prstGeom>
          <a:noFill/>
        </p:spPr>
        <p:txBody>
          <a:bodyPr wrap="square">
            <a:spAutoFit/>
          </a:bodyPr>
          <a:lstStyle/>
          <a:p>
            <a:pPr>
              <a:lnSpc>
                <a:spcPct val="200000"/>
              </a:lnSpc>
              <a:buNone/>
            </a:pPr>
            <a:r>
              <a:rPr lang="en-IN" b="1" u="sng" dirty="0"/>
              <a:t>Response Time</a:t>
            </a:r>
          </a:p>
          <a:p>
            <a:pPr>
              <a:lnSpc>
                <a:spcPct val="200000"/>
              </a:lnSpc>
              <a:buFont typeface="Arial" panose="020B0604020202020204" pitchFamily="34" charset="0"/>
              <a:buChar char="•"/>
            </a:pPr>
            <a:r>
              <a:rPr lang="en-IN" dirty="0"/>
              <a:t>20.6K Within SLA, but 8.1K Below SLA + 4.2K Above SLA = </a:t>
            </a:r>
            <a:r>
              <a:rPr lang="en-IN" b="1" dirty="0"/>
              <a:t>12.3K (37%) outside SLA</a:t>
            </a:r>
            <a:endParaRPr lang="en-IN" dirty="0"/>
          </a:p>
          <a:p>
            <a:pPr>
              <a:lnSpc>
                <a:spcPct val="200000"/>
              </a:lnSpc>
              <a:buFont typeface="Arial" panose="020B0604020202020204" pitchFamily="34" charset="0"/>
              <a:buChar char="•"/>
            </a:pPr>
            <a:r>
              <a:rPr lang="en-IN" dirty="0"/>
              <a:t>That's a significant compliance gap likely dragging CSAT down</a:t>
            </a:r>
          </a:p>
        </p:txBody>
      </p:sp>
    </p:spTree>
    <p:extLst>
      <p:ext uri="{BB962C8B-B14F-4D97-AF65-F5344CB8AC3E}">
        <p14:creationId xmlns:p14="http://schemas.microsoft.com/office/powerpoint/2010/main" val="216338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3D2D66-F80C-97DA-7C38-3DE144EFC900}"/>
              </a:ext>
            </a:extLst>
          </p:cNvPr>
          <p:cNvSpPr txBox="1"/>
          <p:nvPr/>
        </p:nvSpPr>
        <p:spPr>
          <a:xfrm>
            <a:off x="4178808" y="2321004"/>
            <a:ext cx="4306824" cy="1107996"/>
          </a:xfrm>
          <a:prstGeom prst="rect">
            <a:avLst/>
          </a:prstGeom>
          <a:noFill/>
        </p:spPr>
        <p:txBody>
          <a:bodyPr wrap="square" rtlCol="0">
            <a:spAutoFit/>
          </a:bodyPr>
          <a:lstStyle/>
          <a:p>
            <a:r>
              <a:rPr lang="en-US" sz="6600" b="1" dirty="0"/>
              <a:t>Thank you</a:t>
            </a:r>
            <a:endParaRPr lang="en-IN" sz="6600" b="1" dirty="0"/>
          </a:p>
        </p:txBody>
      </p:sp>
    </p:spTree>
    <p:extLst>
      <p:ext uri="{BB962C8B-B14F-4D97-AF65-F5344CB8AC3E}">
        <p14:creationId xmlns:p14="http://schemas.microsoft.com/office/powerpoint/2010/main" val="342274463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60</TotalTime>
  <Words>414</Words>
  <Application>Microsoft Office PowerPoint</Application>
  <PresentationFormat>Widescreen</PresentationFormat>
  <Paragraphs>41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gopi santhosh reddy</dc:creator>
  <cp:lastModifiedBy>gopi santhosh reddy</cp:lastModifiedBy>
  <cp:revision>2</cp:revision>
  <dcterms:created xsi:type="dcterms:W3CDTF">2026-06-12T07:10:41Z</dcterms:created>
  <dcterms:modified xsi:type="dcterms:W3CDTF">2026-06-14T10:30:23Z</dcterms:modified>
</cp:coreProperties>
</file>